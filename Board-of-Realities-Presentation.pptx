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welcome.png"/>
          <p:cNvPicPr>
            <a:picLocks noChangeAspect="1"/>
          </p:cNvPicPr>
          <p:nvPr/>
        </p:nvPicPr>
        <p:blipFill>
          <a:blip r:embed="rId2"/>
          <a:srcRect b="1249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12191695" cy="28000"/>
          </a:xfrm>
          <a:prstGeom prst="rect">
            <a:avLst/>
          </a:prstGeom>
          <a:solidFill>
            <a:srgbClr val="FA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28523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ACD15"/>
                </a:solidFill>
                <a:latin typeface="Consolas"/>
              </a:rPr>
              <a:t>WHAT IT IS  &amp;  HOW IT'S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5F5F5"/>
                </a:solidFill>
                <a:latin typeface="Segoe UI"/>
              </a:rPr>
              <a:t>Pornpavis Jongdepaisarn  •  Ataya Chitmeesilp  •  Thanakorm Kornmatisuk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44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5F5F5"/>
                </a:solidFill>
                <a:latin typeface="Segoe UI"/>
              </a:rPr>
              <a:t>Lapat Jitsangvorawong  •  Poom Rangsisingpipat  •  Tan Briton Rungwattanasophon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b_overworld_moved.png"/>
          <p:cNvPicPr>
            <a:picLocks noChangeAspect="1"/>
          </p:cNvPicPr>
          <p:nvPr/>
        </p:nvPicPr>
        <p:blipFill>
          <a:blip r:embed="rId2"/>
          <a:srcRect t="23458" b="23458"/>
          <a:stretch>
            <a:fillRect/>
          </a:stretch>
        </p:blipFill>
        <p:spPr>
          <a:xfrm>
            <a:off x="0" y="0"/>
            <a:ext cx="12191695" cy="41605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343400" cy="502920"/>
          </a:xfrm>
          <a:prstGeom prst="rect">
            <a:avLst/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058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D4BF"/>
                </a:solidFill>
                <a:latin typeface="Consolas"/>
              </a:rPr>
              <a:t>// LIVE GAMEPLAY - ACTUAL SCREENSHOT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14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160520"/>
            <a:ext cx="12191695" cy="2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32511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38BDF8"/>
                </a:solidFill>
                <a:latin typeface="Consolas"/>
              </a:rPr>
              <a:t>WHAT IS BOARD OF REALITIES?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377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FACD15"/>
                </a:solidFill>
                <a:latin typeface="Segoe UI"/>
              </a:rPr>
              <a:t>›  </a:t>
            </a:r>
            <a:r>
              <a:rPr sz="1500">
                <a:solidFill>
                  <a:srgbClr val="F5F5F5"/>
                </a:solidFill>
                <a:latin typeface="Segoe UI"/>
              </a:rPr>
              <a:t>A top-down, open-world life-and-finance simulation game, playable in the browser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FACD15"/>
                </a:solidFill>
                <a:latin typeface="Segoe UI"/>
              </a:rPr>
              <a:t>›  </a:t>
            </a:r>
            <a:r>
              <a:rPr sz="1500">
                <a:solidFill>
                  <a:srgbClr val="F5F5F5"/>
                </a:solidFill>
                <a:latin typeface="Segoe UI"/>
              </a:rPr>
              <a:t>You play a university student who leverages his way into -$10,000,000 in debt on day one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FACD15"/>
                </a:solidFill>
                <a:latin typeface="Segoe UI"/>
              </a:rPr>
              <a:t>›  </a:t>
            </a:r>
            <a:r>
              <a:rPr sz="1500">
                <a:solidFill>
                  <a:srgbClr val="F5F5F5"/>
                </a:solidFill>
                <a:latin typeface="Segoe UI"/>
              </a:rPr>
              <a:t>Starting from just $1,000, you climb back to +$10,000,000 through investing, business, crime, and gambling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5F5"/>
                </a:solidFill>
                <a:latin typeface="Consolas"/>
              </a:rPr>
              <a:t>HOW IT'S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2377440" cy="30000"/>
          </a:xfrm>
          <a:prstGeom prst="rect">
            <a:avLst/>
          </a:prstGeom>
          <a:solidFill>
            <a:srgbClr val="FA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49240" cy="5074920"/>
          </a:xfrm>
          <a:prstGeom prst="rect">
            <a:avLst/>
          </a:prstGeom>
          <a:solidFill>
            <a:srgbClr val="141A26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8BDF8"/>
                </a:solidFill>
                <a:latin typeface="Consolas"/>
              </a:rPr>
              <a:t>FRONTEND  (in the browser)</a:t>
            </a:r>
          </a:p>
        </p:txBody>
      </p:sp>
      <p:pic>
        <p:nvPicPr>
          <p:cNvPr id="7" name="Picture 6" descr="overworld_gameplay_crop.png"/>
          <p:cNvPicPr>
            <a:picLocks noChangeAspect="1"/>
          </p:cNvPicPr>
          <p:nvPr/>
        </p:nvPicPr>
        <p:blipFill>
          <a:blip r:embed="rId2"/>
          <a:srcRect t="6383" b="6383"/>
          <a:stretch>
            <a:fillRect/>
          </a:stretch>
        </p:blipFill>
        <p:spPr>
          <a:xfrm>
            <a:off x="868680" y="2148840"/>
            <a:ext cx="4709160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422452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Segoe UI"/>
              </a:rPr>
              <a:t>^ the actual 2D world, rendered live by Phaser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4709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38BDF8"/>
                </a:solidFill>
                <a:latin typeface="Segoe UI"/>
              </a:rPr>
              <a:t>›  </a:t>
            </a:r>
            <a:r>
              <a:rPr sz="1350">
                <a:solidFill>
                  <a:srgbClr val="F5F5F5"/>
                </a:solidFill>
                <a:latin typeface="Segoe UI"/>
              </a:rPr>
              <a:t>React — every menu, modal, and HUD element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38BDF8"/>
                </a:solidFill>
                <a:latin typeface="Segoe UI"/>
              </a:rPr>
              <a:t>›  </a:t>
            </a:r>
            <a:r>
              <a:rPr sz="1350">
                <a:solidFill>
                  <a:srgbClr val="F5F5F5"/>
                </a:solidFill>
                <a:latin typeface="Segoe UI"/>
              </a:rPr>
              <a:t>Phaser 4 — the 2D game world you walk around in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38BDF8"/>
                </a:solidFill>
                <a:latin typeface="Segoe UI"/>
              </a:rPr>
              <a:t>›  </a:t>
            </a:r>
            <a:r>
              <a:rPr sz="1350">
                <a:solidFill>
                  <a:srgbClr val="F5F5F5"/>
                </a:solidFill>
                <a:latin typeface="Segoe UI"/>
              </a:rPr>
              <a:t>Zustand — one shared state store (cash, day, inventory)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38BDF8"/>
                </a:solidFill>
                <a:latin typeface="Segoe UI"/>
              </a:rPr>
              <a:t>›  </a:t>
            </a:r>
            <a:r>
              <a:rPr sz="1350">
                <a:solidFill>
                  <a:srgbClr val="F5F5F5"/>
                </a:solidFill>
                <a:latin typeface="Segoe UI"/>
              </a:rPr>
              <a:t>Vite — instant hot-reload dev server + build 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49240" cy="5074920"/>
          </a:xfrm>
          <a:prstGeom prst="rect">
            <a:avLst/>
          </a:prstGeom>
          <a:solidFill>
            <a:srgbClr val="141A26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2763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72B6"/>
                </a:solidFill>
                <a:latin typeface="Consolas"/>
              </a:rPr>
              <a:t>BACKEND  (a separate server)</a:t>
            </a:r>
          </a:p>
        </p:txBody>
      </p:sp>
      <p:pic>
        <p:nvPicPr>
          <p:cNvPr id="12" name="Picture 11" descr="guide_ai_crop.png"/>
          <p:cNvPicPr>
            <a:picLocks noChangeAspect="1"/>
          </p:cNvPicPr>
          <p:nvPr/>
        </p:nvPicPr>
        <p:blipFill>
          <a:blip r:embed="rId3"/>
          <a:srcRect t="27719" b="27719"/>
          <a:stretch>
            <a:fillRect/>
          </a:stretch>
        </p:blipFill>
        <p:spPr>
          <a:xfrm>
            <a:off x="7726680" y="2148840"/>
            <a:ext cx="2514600" cy="1965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29400" y="422452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3AF"/>
                </a:solidFill>
                <a:latin typeface="Segoe UI"/>
              </a:rPr>
              <a:t>^ Aria, replying live - generated by the real backend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17720"/>
            <a:ext cx="4709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F472B6"/>
                </a:solidFill>
                <a:latin typeface="Segoe UI"/>
              </a:rPr>
              <a:t>›  </a:t>
            </a:r>
            <a:r>
              <a:rPr sz="1350">
                <a:solidFill>
                  <a:srgbClr val="F5F5F5"/>
                </a:solidFill>
                <a:latin typeface="Segoe UI"/>
              </a:rPr>
              <a:t>Python + FastAPI, served by Uvicorn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F472B6"/>
                </a:solidFill>
                <a:latin typeface="Segoe UI"/>
              </a:rPr>
              <a:t>›  </a:t>
            </a:r>
            <a:r>
              <a:rPr sz="1350">
                <a:solidFill>
                  <a:srgbClr val="F5F5F5"/>
                </a:solidFill>
                <a:latin typeface="Segoe UI"/>
              </a:rPr>
              <a:t>Connected to OpenAI — every NPC has a written persona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F472B6"/>
                </a:solidFill>
                <a:latin typeface="Segoe UI"/>
              </a:rPr>
              <a:t>›  </a:t>
            </a:r>
            <a:r>
              <a:rPr sz="1350">
                <a:solidFill>
                  <a:srgbClr val="F5F5F5"/>
                </a:solidFill>
                <a:latin typeface="Segoe UI"/>
              </a:rPr>
              <a:t>Generates each NPC's live, in-character reply as you type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>
                <a:solidFill>
                  <a:srgbClr val="F472B6"/>
                </a:solidFill>
                <a:latin typeface="Segoe UI"/>
              </a:rPr>
              <a:t>›  </a:t>
            </a:r>
            <a:r>
              <a:rPr sz="1350">
                <a:solidFill>
                  <a:srgbClr val="F5F5F5"/>
                </a:solidFill>
                <a:latin typeface="Segoe UI"/>
              </a:rPr>
              <a:t>One simple API call connects the two halves — no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8_ending_cutscene_b.png"/>
          <p:cNvPicPr>
            <a:picLocks noChangeAspect="1"/>
          </p:cNvPicPr>
          <p:nvPr/>
        </p:nvPicPr>
        <p:blipFill>
          <a:blip r:embed="rId2"/>
          <a:srcRect t="6249" b="624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A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92040"/>
            <a:ext cx="12191695" cy="280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ACD15"/>
                </a:solidFill>
                <a:latin typeface="Consola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4243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F5F5F5"/>
                </a:solidFill>
                <a:latin typeface="Segoe UI"/>
              </a:rPr>
              <a:t>Board of Realities — built end-to-end by a 6-person student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081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DD4BF"/>
                </a:solidFill>
                <a:latin typeface="Consola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